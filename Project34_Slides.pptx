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8b5458-e2a5-d715-ec39-2479b8237577}">
          <p14:sldIdLst>
            <p14:sldId id="256"/>
            <p14:sldId id="257"/>
            <p14:sldId id="258"/>
          </p14:sldIdLst>
        </p14:section>
        <p14:section name="Method" id="{5dc9032d-1e30-0581-12e5-6cd4d9f0a375}">
          <p14:sldIdLst>
            <p14:sldId id="259"/>
            <p14:sldId id="260"/>
          </p14:sldIdLst>
        </p14:section>
        <p14:section name="Results" id="{a4d3dfe2-b1b7-37ea-ffb1-738e2d489623}">
          <p14:sldIdLst>
            <p14:sldId id="261"/>
            <p14:sldId id="262"/>
          </p14:sldIdLst>
        </p14:section>
        <p14:section name="Wrap-up" id="{1c9e0aac-644f-6268-822e-13b71243f97f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+mn-lt"/>
              </a:rPr>
              <a:t>Baseline: loss per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solidFill>
              <a:srgbClr val="0E8C85"/>
            </a:solidFill>
            <a:ln w="31750" cap="flat">
              <a:solidFill>
                <a:srgbClr val="0E8C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E8C85"/>
              </a:solidFill>
              <a:ln w="9525" cap="flat">
                <a:solidFill>
                  <a:srgbClr val="0E8C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0.83</c:v>
                </c:pt>
                <c:pt idx="1">
                  <c:v>0.64</c:v>
                </c:pt>
                <c:pt idx="2">
                  <c:v>0.46</c:v>
                </c:pt>
                <c:pt idx="3">
                  <c:v>0.3</c:v>
                </c:pt>
                <c:pt idx="4">
                  <c:v>0.22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0.78</c:v>
                </c:pt>
                <c:pt idx="1">
                  <c:v>0.8</c:v>
                </c:pt>
                <c:pt idx="2">
                  <c:v>0.98</c:v>
                </c:pt>
                <c:pt idx="3">
                  <c:v>1.1</c:v>
                </c:pt>
                <c:pt idx="4">
                  <c:v>1.23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7C99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7C99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l"/>
        <c:majorGridlines>
          <c:spPr>
            <a:ln w="635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254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B2545"/>
                </a:solidFill>
                <a:latin typeface="+mn-lt"/>
              </a:rPr>
              <a:t>Mean IoU by Grad-CAM threshold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8DA9C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B254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0.3</c:v>
                  </c:pt>
                  <c:pt idx="1">
                    <c:v>0.4</c:v>
                  </c:pt>
                  <c:pt idx="2">
                    <c:v>0.5</c:v>
                  </c:pt>
                  <c:pt idx="3">
                    <c:v>0.6</c:v>
                  </c:pt>
                  <c:pt idx="4">
                    <c:v>0.7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0.213</c:v>
                </c:pt>
                <c:pt idx="1">
                  <c:v>0.222</c:v>
                </c:pt>
                <c:pt idx="2">
                  <c:v>0.218</c:v>
                </c:pt>
                <c:pt idx="3">
                  <c:v>0.203</c:v>
                </c:pt>
                <c:pt idx="4">
                  <c:v>0.176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Final</c:v>
                </c:pt>
              </c:strCache>
            </c:strRef>
          </c:tx>
          <c:spPr>
            <a:solidFill>
              <a:srgbClr val="0E8C8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B254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0.3</c:v>
                  </c:pt>
                  <c:pt idx="1">
                    <c:v>0.4</c:v>
                  </c:pt>
                  <c:pt idx="2">
                    <c:v>0.5</c:v>
                  </c:pt>
                  <c:pt idx="3">
                    <c:v>0.6</c:v>
                  </c:pt>
                  <c:pt idx="4">
                    <c:v>0.7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0.261</c:v>
                </c:pt>
                <c:pt idx="1">
                  <c:v>0.274</c:v>
                </c:pt>
                <c:pt idx="2">
                  <c:v>0.279</c:v>
                </c:pt>
                <c:pt idx="3">
                  <c:v>0.267</c:v>
                </c:pt>
                <c:pt idx="4">
                  <c:v>0.247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0B254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  <c:min val="0"/>
        </c:scaling>
        <c:delete val="0"/>
        <c:axPos val="l"/>
        <c:majorGridlines>
          <c:spPr>
            <a:ln w="635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B254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914400"/>
            <a:ext cx="58521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A9C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91440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Pneumonia Diagnosis Detection and Localization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060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Project 34  |  UE24CS352A Machine Learning Mini-Project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Ansh Vardhan Singh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PES1UG24AM046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Aditya Narayan Dandia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PES1UG24AM017</a:t>
            </a:r>
            <a:endParaRPr lang="en-US" sz="1500" dirty="0"/>
          </a:p>
        </p:txBody>
      </p:sp>
      <p:sp>
        <p:nvSpPr>
          <p:cNvPr id="5" name="motif circle"/>
          <p:cNvSpPr/>
          <p:nvPr/>
        </p:nvSpPr>
        <p:spPr>
          <a:xfrm>
            <a:off x="6675120" y="1005840"/>
            <a:ext cx="2011680" cy="20116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0" y="10058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34</a:t>
            </a:r>
            <a:endParaRPr lang="en-US" sz="6000" dirty="0"/>
          </a:p>
        </p:txBody>
      </p:sp>
      <p:sp>
        <p:nvSpPr>
          <p:cNvPr id="7" name="motif circle small"/>
          <p:cNvSpPr/>
          <p:nvPr/>
        </p:nvSpPr>
        <p:spPr>
          <a:xfrm>
            <a:off x="7223760" y="3291840"/>
            <a:ext cx="914400" cy="9144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DenseNet121 + Grad-CAM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Problem: detect pneumonia, then locate it</a:t>
            </a:r>
            <a:endParaRPr lang="en-US" sz="26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88720"/>
            <a:ext cx="40233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number circle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71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Detection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031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Chest X-ray in, P(pneumonia) and a Pneumonia / Normal label out.</a:t>
            </a:r>
            <a:endParaRPr lang="en-US" sz="1400" dirty="0"/>
          </a:p>
        </p:txBody>
      </p:sp>
      <p:sp>
        <p:nvSpPr>
          <p:cNvPr id="8" name="problem card"/>
          <p:cNvSpPr/>
          <p:nvPr/>
        </p:nvSpPr>
        <p:spPr>
          <a:xfrm>
            <a:off x="4663440" y="1188720"/>
            <a:ext cx="40233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number circle"/>
          <p:cNvSpPr/>
          <p:nvPr/>
        </p:nvSpPr>
        <p:spPr>
          <a:xfrm>
            <a:off x="4892040" y="137160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1371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Localization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1031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Grad-CAM heatmap and box around the suspected region, learned without any location labels in training.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Reference: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Stanford CS229 (2018), project #56: CNN + CAM localization. We adapt it with transfer learning + Grad-CAM, without U-Net lung segmentation or DFS clustering.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Educational prototype, not a clinical diagnostic tool.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RSNA Pneumonia Detection dataset</a:t>
            </a:r>
            <a:endParaRPr lang="en-US" sz="2600" dirty="0"/>
          </a:p>
        </p:txBody>
      </p:sp>
      <p:sp>
        <p:nvSpPr>
          <p:cNvPr id="3" name="stat card"/>
          <p:cNvSpPr/>
          <p:nvPr/>
        </p:nvSpPr>
        <p:spPr>
          <a:xfrm>
            <a:off x="457200" y="1143000"/>
            <a:ext cx="32918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16152"/>
            <a:ext cx="30175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70 / 15 / 15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2135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stratified train / validation / test split</a:t>
            </a:r>
            <a:endParaRPr lang="en-US" sz="1100" dirty="0"/>
          </a:p>
        </p:txBody>
      </p:sp>
      <p:sp>
        <p:nvSpPr>
          <p:cNvPr id="6" name="stat card"/>
          <p:cNvSpPr/>
          <p:nvPr/>
        </p:nvSpPr>
        <p:spPr>
          <a:xfrm>
            <a:off x="457200" y="2377440"/>
            <a:ext cx="32918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50592"/>
            <a:ext cx="30175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~18k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95579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training images (final model)</a:t>
            </a:r>
            <a:endParaRPr lang="en-US" sz="1100" dirty="0"/>
          </a:p>
        </p:txBody>
      </p:sp>
      <p:sp>
        <p:nvSpPr>
          <p:cNvPr id="9" name="stat card"/>
          <p:cNvSpPr/>
          <p:nvPr/>
        </p:nvSpPr>
        <p:spPr>
          <a:xfrm>
            <a:off x="457200" y="3611880"/>
            <a:ext cx="32918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685032"/>
            <a:ext cx="30175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500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19023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test images: 106 pneumonia, 394 normal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18872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Chest X-rays in DICOM format, from Kaggle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Label per image: Target 1 = pneumonia, 0 = not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Pneumonia images also have bounding boxes, used only to evaluate localization, never for training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Fewer pneumonia than normal images, so we use a weighted loss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row per X-ray; the stratified split keeps the class ratio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Method: DenseNet121 + Grad-CAM</a:t>
            </a:r>
            <a:endParaRPr lang="en-US" sz="2600" dirty="0"/>
          </a:p>
        </p:txBody>
      </p:sp>
      <p:sp>
        <p:nvSpPr>
          <p:cNvPr id="3" name="pipeline box"/>
          <p:cNvSpPr/>
          <p:nvPr/>
        </p:nvSpPr>
        <p:spPr>
          <a:xfrm>
            <a:off x="457200" y="1188720"/>
            <a:ext cx="1463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X-ray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DICOM, RSNA</a:t>
            </a:r>
            <a:endParaRPr lang="en-US" sz="1150" dirty="0"/>
          </a:p>
        </p:txBody>
      </p:sp>
      <p:sp>
        <p:nvSpPr>
          <p:cNvPr id="6" name="arrow"/>
          <p:cNvSpPr/>
          <p:nvPr/>
        </p:nvSpPr>
        <p:spPr>
          <a:xfrm>
            <a:off x="1947672" y="1737360"/>
            <a:ext cx="182880" cy="228600"/>
          </a:xfrm>
          <a:prstGeom prst="rightArrow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7" name="pipeline box"/>
          <p:cNvSpPr/>
          <p:nvPr/>
        </p:nvSpPr>
        <p:spPr>
          <a:xfrm>
            <a:off x="2148840" y="1188720"/>
            <a:ext cx="1463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1280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Preprocess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16916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224x224 RGB, ImageNet norm.</a:t>
            </a:r>
            <a:endParaRPr lang="en-US" sz="1150" dirty="0"/>
          </a:p>
        </p:txBody>
      </p:sp>
      <p:sp>
        <p:nvSpPr>
          <p:cNvPr id="10" name="arrow"/>
          <p:cNvSpPr/>
          <p:nvPr/>
        </p:nvSpPr>
        <p:spPr>
          <a:xfrm>
            <a:off x="3639312" y="1737360"/>
            <a:ext cx="182880" cy="228600"/>
          </a:xfrm>
          <a:prstGeom prst="rightArrow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1" name="pipeline box"/>
          <p:cNvSpPr/>
          <p:nvPr/>
        </p:nvSpPr>
        <p:spPr>
          <a:xfrm>
            <a:off x="3840480" y="1188720"/>
            <a:ext cx="1463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1280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DenseNet121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6916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ImageNet-pretrained, 1-output head</a:t>
            </a:r>
            <a:endParaRPr lang="en-US" sz="1150" dirty="0"/>
          </a:p>
        </p:txBody>
      </p:sp>
      <p:sp>
        <p:nvSpPr>
          <p:cNvPr id="14" name="arrow"/>
          <p:cNvSpPr/>
          <p:nvPr/>
        </p:nvSpPr>
        <p:spPr>
          <a:xfrm>
            <a:off x="5330952" y="1737360"/>
            <a:ext cx="182880" cy="228600"/>
          </a:xfrm>
          <a:prstGeom prst="rightArrow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5" name="pipeline box"/>
          <p:cNvSpPr/>
          <p:nvPr/>
        </p:nvSpPr>
        <p:spPr>
          <a:xfrm>
            <a:off x="5532120" y="1188720"/>
            <a:ext cx="1463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23560" y="1280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Prediction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16916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P(pneumonia), weighted BCE loss</a:t>
            </a:r>
            <a:endParaRPr lang="en-US" sz="1150" dirty="0"/>
          </a:p>
        </p:txBody>
      </p:sp>
      <p:sp>
        <p:nvSpPr>
          <p:cNvPr id="18" name="arrow"/>
          <p:cNvSpPr/>
          <p:nvPr/>
        </p:nvSpPr>
        <p:spPr>
          <a:xfrm>
            <a:off x="7022592" y="1737360"/>
            <a:ext cx="182880" cy="228600"/>
          </a:xfrm>
          <a:prstGeom prst="rightArrow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9" name="pipeline box"/>
          <p:cNvSpPr/>
          <p:nvPr/>
        </p:nvSpPr>
        <p:spPr>
          <a:xfrm>
            <a:off x="7223760" y="1188720"/>
            <a:ext cx="1463040" cy="1417320"/>
          </a:xfrm>
          <a:prstGeom prst="roundRect">
            <a:avLst>
              <a:gd name="adj" fmla="val 5161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0" y="1280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Grad-CAM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16916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7x7 map, threshold, box</a:t>
            </a:r>
            <a:endParaRPr lang="en-US" sz="1150" dirty="0"/>
          </a:p>
        </p:txBody>
      </p:sp>
      <p:sp>
        <p:nvSpPr>
          <p:cNvPr id="22" name="info card"/>
          <p:cNvSpPr/>
          <p:nvPr/>
        </p:nvSpPr>
        <p:spPr>
          <a:xfrm>
            <a:off x="45720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Why transfer learning?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429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DenseNet121 pretrained on ImageNet already knows edges and textures, so we only adapt it to X-rays. This works with limited data and needs no CNN built from scratch.</a:t>
            </a:r>
            <a:endParaRPr lang="en-US" sz="1300" dirty="0"/>
          </a:p>
        </p:txBody>
      </p:sp>
      <p:sp>
        <p:nvSpPr>
          <p:cNvPr id="25" name="info card"/>
          <p:cNvSpPr/>
          <p:nvPr/>
        </p:nvSpPr>
        <p:spPr>
          <a:xfrm>
            <a:off x="466344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How Grad-CAM works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429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It weights the last feature maps by their gradient for the pneumonia output, sums them and upsamples to a heatmap. Thresholding gives a region, compared with true boxes by IoU.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Baseline overfit, final model fixed it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937760" y="10515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0.853 to 0.881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best validation AUC, baseline to final model</a:t>
            </a:r>
            <a:endParaRPr lang="en-US" sz="1200" dirty="0"/>
          </a:p>
        </p:txBody>
      </p:sp>
      <p:sp>
        <p:nvSpPr>
          <p:cNvPr id="6" name="baseline card"/>
          <p:cNvSpPr/>
          <p:nvPr/>
        </p:nvSpPr>
        <p:spPr>
          <a:xfrm>
            <a:off x="4937760" y="2057400"/>
            <a:ext cx="37490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74920" y="213055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Baseline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3k images, no augmentation, lr 1e-4. Validation loss rose after epoch 1.</a:t>
            </a:r>
            <a:endParaRPr lang="en-US" sz="1200" dirty="0"/>
          </a:p>
        </p:txBody>
      </p:sp>
      <p:sp>
        <p:nvSpPr>
          <p:cNvPr id="8" name="final card"/>
          <p:cNvSpPr/>
          <p:nvPr/>
        </p:nvSpPr>
        <p:spPr>
          <a:xfrm>
            <a:off x="4937760" y="3200400"/>
            <a:ext cx="3749040" cy="1417320"/>
          </a:xfrm>
          <a:prstGeom prst="roundRect">
            <a:avLst>
              <a:gd name="adj" fmla="val 5161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74920" y="3273552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Final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Full train split (~18k), flip / rotation / jitter, lr 3e-5, weight decay, LR scheduler, early stopping. Best epoch 3.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Results on the 500-image test set</a:t>
            </a:r>
            <a:endParaRPr lang="en-US" sz="2600" dirty="0"/>
          </a:p>
        </p:txBody>
      </p:sp>
      <p:sp>
        <p:nvSpPr>
          <p:cNvPr id="3" name="stat card"/>
          <p:cNvSpPr/>
          <p:nvPr/>
        </p:nvSpPr>
        <p:spPr>
          <a:xfrm>
            <a:off x="457200" y="1097280"/>
            <a:ext cx="12801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0.884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499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ROC-AUC</a:t>
            </a:r>
            <a:endParaRPr lang="en-US" sz="1100" dirty="0"/>
          </a:p>
        </p:txBody>
      </p:sp>
      <p:sp>
        <p:nvSpPr>
          <p:cNvPr id="6" name="stat card"/>
          <p:cNvSpPr/>
          <p:nvPr/>
        </p:nvSpPr>
        <p:spPr>
          <a:xfrm>
            <a:off x="1847088" y="1097280"/>
            <a:ext cx="12801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84248" y="117043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0.808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984248" y="15499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Accuracy</a:t>
            </a:r>
            <a:endParaRPr lang="en-US" sz="1100" dirty="0"/>
          </a:p>
        </p:txBody>
      </p:sp>
      <p:sp>
        <p:nvSpPr>
          <p:cNvPr id="9" name="stat card"/>
          <p:cNvSpPr/>
          <p:nvPr/>
        </p:nvSpPr>
        <p:spPr>
          <a:xfrm>
            <a:off x="3236976" y="1097280"/>
            <a:ext cx="12801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74136" y="117043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0.531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374136" y="15499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Precision</a:t>
            </a:r>
            <a:endParaRPr lang="en-US" sz="1100" dirty="0"/>
          </a:p>
        </p:txBody>
      </p:sp>
      <p:sp>
        <p:nvSpPr>
          <p:cNvPr id="12" name="stat card"/>
          <p:cNvSpPr/>
          <p:nvPr/>
        </p:nvSpPr>
        <p:spPr>
          <a:xfrm>
            <a:off x="4626864" y="1097280"/>
            <a:ext cx="12801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64024" y="117043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0.802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15499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Recall</a:t>
            </a:r>
            <a:endParaRPr lang="en-US" sz="1100" dirty="0"/>
          </a:p>
        </p:txBody>
      </p:sp>
      <p:sp>
        <p:nvSpPr>
          <p:cNvPr id="15" name="stat card"/>
          <p:cNvSpPr/>
          <p:nvPr/>
        </p:nvSpPr>
        <p:spPr>
          <a:xfrm>
            <a:off x="6016752" y="1097280"/>
            <a:ext cx="12801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53912" y="117043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0.639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153912" y="15499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F1-score</a:t>
            </a:r>
            <a:endParaRPr lang="en-US" sz="1100" dirty="0"/>
          </a:p>
        </p:txBody>
      </p:sp>
      <p:sp>
        <p:nvSpPr>
          <p:cNvPr id="18" name="stat card"/>
          <p:cNvSpPr/>
          <p:nvPr/>
        </p:nvSpPr>
        <p:spPr>
          <a:xfrm>
            <a:off x="7406640" y="1097280"/>
            <a:ext cx="12801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43800" y="117043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0.810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15499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Specificity</a:t>
            </a:r>
            <a:endParaRPr lang="en-US" sz="1100" dirty="0"/>
          </a:p>
        </p:txBody>
      </p:sp>
      <p:pic>
        <p:nvPicPr>
          <p:cNvPr id="21" name="Image 0" descr="Confusion matrix on the test 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48840"/>
            <a:ext cx="2709746" cy="2468880"/>
          </a:xfrm>
          <a:prstGeom prst="rect">
            <a:avLst/>
          </a:prstGeom>
        </p:spPr>
      </p:pic>
      <p:pic>
        <p:nvPicPr>
          <p:cNvPr id="22" name="Image 1" descr="ROC curve, AUC 0.88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66" y="2148840"/>
            <a:ext cx="2479012" cy="246888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194599" y="2194560"/>
            <a:ext cx="2492201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85 of 106 pneumonia cases caught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21 missed (false negatives)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75 false alarms on 394 normals, so precision is 0.53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Localization and demo examples</a:t>
            </a:r>
            <a:endParaRPr lang="en-US" sz="2600" dirty="0"/>
          </a:p>
        </p:txBody>
      </p:sp>
      <p:pic>
        <p:nvPicPr>
          <p:cNvPr id="3" name="Image 0" descr="Grad-CAM demo galle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120640" cy="258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8848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Selected examples, not average performance: best-localized detections (IoU 0.59 to 0.61), confidently cleared normals, and one missed case (P = 0.39, bottom right).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852160" y="1051560"/>
          <a:ext cx="28346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tat card"/>
          <p:cNvSpPr/>
          <p:nvPr/>
        </p:nvSpPr>
        <p:spPr>
          <a:xfrm>
            <a:off x="5852160" y="3657600"/>
            <a:ext cx="1371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989320" y="3730752"/>
            <a:ext cx="1097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0.28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989320" y="418566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mean IoU (thr 0.5)</a:t>
            </a:r>
            <a:endParaRPr lang="en-US" sz="1100" dirty="0"/>
          </a:p>
        </p:txBody>
      </p:sp>
      <p:sp>
        <p:nvSpPr>
          <p:cNvPr id="9" name="stat card"/>
          <p:cNvSpPr/>
          <p:nvPr/>
        </p:nvSpPr>
        <p:spPr>
          <a:xfrm>
            <a:off x="7315200" y="3657600"/>
            <a:ext cx="1371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52360" y="3730752"/>
            <a:ext cx="1097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47.2%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7452360" y="418566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pointing-game hit rate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Conclusion, limitations, future work</a:t>
            </a:r>
            <a:endParaRPr lang="en-US" sz="2600" dirty="0"/>
          </a:p>
        </p:txBody>
      </p:sp>
      <p:sp>
        <p:nvSpPr>
          <p:cNvPr id="3" name="conclusion card"/>
          <p:cNvSpPr/>
          <p:nvPr/>
        </p:nvSpPr>
        <p:spPr>
          <a:xfrm>
            <a:off x="457200" y="1188720"/>
            <a:ext cx="2606040" cy="342900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What worked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AUC 0.884 and recall 0.80 on the test set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Localization with no box labels: IoU 0.28, hit rate 47%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More data, augmentation and regularization fixed overfitting</a:t>
            </a:r>
            <a:endParaRPr lang="en-US" sz="1200" dirty="0"/>
          </a:p>
        </p:txBody>
      </p:sp>
      <p:sp>
        <p:nvSpPr>
          <p:cNvPr id="6" name="conclusion card"/>
          <p:cNvSpPr/>
          <p:nvPr/>
        </p:nvSpPr>
        <p:spPr>
          <a:xfrm>
            <a:off x="3268980" y="1188720"/>
            <a:ext cx="2606040" cy="342900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5186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51860" y="178308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Single split, no cross-validation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500-image test sample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Moderate precision (75 false alarms)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7x7 Grad-CAM gives coarse regions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Some heatmaps hit non-lung areas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No external validation; not clinical</a:t>
            </a:r>
            <a:endParaRPr lang="en-US" sz="1200" dirty="0"/>
          </a:p>
        </p:txBody>
      </p:sp>
      <p:sp>
        <p:nvSpPr>
          <p:cNvPr id="9" name="conclusion card"/>
          <p:cNvSpPr/>
          <p:nvPr/>
        </p:nvSpPr>
        <p:spPr>
          <a:xfrm>
            <a:off x="6080760" y="1188720"/>
            <a:ext cx="2606040" cy="342900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78308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Evaluate on the full held-out test split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Higher-resolution CAM, or a detector (Faster R-CNN) with lung segmentation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Tune the threshold for sensitivity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External validation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A9C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neumonia Project">
  <a:themeElements>
    <a:clrScheme name="Pneumonia Project">
      <a:dk1>
        <a:srgbClr val="0B2545"/>
      </a:dk1>
      <a:lt1>
        <a:srgbClr val="FFFFFF"/>
      </a:lt1>
      <a:dk2>
        <a:srgbClr val="13315C"/>
      </a:dk2>
      <a:lt2>
        <a:srgbClr val="EEF4F8"/>
      </a:lt2>
      <a:accent1>
        <a:srgbClr val="0E8C85"/>
      </a:accent1>
      <a:accent2>
        <a:srgbClr val="E4572E"/>
      </a:accent2>
      <a:accent3>
        <a:srgbClr val="8DA9C4"/>
      </a:accent3>
      <a:accent4>
        <a:srgbClr val="F2A541"/>
      </a:accent4>
      <a:accent5>
        <a:srgbClr val="5B7C99"/>
      </a:accent5>
      <a:accent6>
        <a:srgbClr val="2E7D32"/>
      </a:accent6>
      <a:hlink>
        <a:srgbClr val="0E8C85"/>
      </a:hlink>
      <a:folHlink>
        <a:srgbClr val="5B7C99"/>
      </a:folHlink>
    </a:clrScheme>
    <a:fontScheme name="Pneumonia Projec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Pneumonia Diagnosis Detection and Localization - Project 34</dc:title>
  <dc:subject>PptxGenJS Presentation</dc:subject>
  <dc:creator>Ansh Vardhan Singh, Aditya Narayan Dandia</dc:creator>
  <cp:lastModifiedBy>Ansh Vardhan Singh, Aditya Narayan Dandia</cp:lastModifiedBy>
  <cp:revision>1</cp:revision>
  <dcterms:created xsi:type="dcterms:W3CDTF">2026-10-02T09:39:49Z</dcterms:created>
  <dcterms:modified xsi:type="dcterms:W3CDTF">2026-10-02T09:39:49Z</dcterms:modified>
</cp:coreProperties>
</file>